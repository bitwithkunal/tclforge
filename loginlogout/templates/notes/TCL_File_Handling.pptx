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80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30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E0000"/>
                </a:solidFill>
              </a:defRPr>
            </a:pPr>
            <a:r>
              <a:t>TCL FILE HANDLING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Managing Files, Directories &amp; Streams in TCL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E0000"/>
                </a:solidFill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1. TCL File Modes &amp; Basic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2. Reading &amp; Writing Files (16 Commands)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3. File Management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4. Directory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5. Error Handling &amp; Best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6. Complete Workflow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7. Performance Considerations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8. Safety Tips &amp;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E0000"/>
                </a:solidFill>
              </a:defRPr>
            </a:pPr>
            <a:r>
              <a:t>TCL FILE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00"/>
                </a:solidFill>
              </a:defRPr>
            </a:pPr>
            <a:r>
              <a:rPr dirty="0"/>
              <a:t>R : Read - Open existing file for reading. Fails if not found.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00"/>
                </a:solidFill>
              </a:defRPr>
            </a:pPr>
            <a:r>
              <a:rPr dirty="0"/>
              <a:t>W : Write - Create or overwrite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60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00"/>
                </a:solidFill>
              </a:defRPr>
            </a:pPr>
            <a:r>
              <a:rPr dirty="0"/>
              <a:t>A : Append - Open for appending. Keeps existing data intact.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00"/>
                </a:solidFill>
              </a:defRPr>
            </a:pPr>
            <a:r>
              <a:rPr dirty="0"/>
              <a:t>R+ : Read/Write - Open for both reading and writing.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00"/>
                </a:solidFill>
              </a:defRPr>
            </a:pPr>
            <a:r>
              <a:rPr dirty="0"/>
              <a:t>A+ : Append/Read - Append and also allow reading.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94645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FF00"/>
                </a:solidFill>
              </a:defRPr>
            </a:pPr>
            <a:r>
              <a:rPr dirty="0"/>
              <a:t>B : Binary - Append to mode for binary files (e.g., "</a:t>
            </a:r>
            <a:r>
              <a:rPr dirty="0" err="1"/>
              <a:t>rb</a:t>
            </a:r>
            <a:r>
              <a:rPr dirty="0"/>
              <a:t>", "</a:t>
            </a:r>
            <a:r>
              <a:rPr dirty="0" err="1"/>
              <a:t>wb</a:t>
            </a:r>
            <a:r>
              <a:rPr dirty="0"/>
              <a:t>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#1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fp [open report.log w]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Opens a file named 'report.log' in write mode. Returns a file pointer.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File pointer created (e.g., file3)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'w' = Write mode (creates new file or overwrites existing one). Use the handle for writing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500"/>
                </a:solidFill>
              </a:defRPr>
            </a:pPr>
            <a:r>
              <a:t>TRY THIS: Modify to create multiple log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#2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puts $fp "Timing analysis complete."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Writes a string into the file using the file pointer.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Writes text to report.log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‘puts’ writes data to a file or standard output. Use -nonewline to avoid newlines.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#3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close $fp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Closes the file pointer to finalize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File report.log closed successfully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Always close the file to release the handle and flush data to disk.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#4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fp [open report.log 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Opens the file in read mode to read its contents.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File pointer (e.g., file4)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'r' = Read mode. Fails if file does not exist.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#5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data [read $fp]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Reads the complete contents of the file into variable 'data'.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Timing analysis complete.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You can specify byte count as 'read $fp 100' to read specific length.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500"/>
                </a:solidFill>
              </a:defRPr>
            </a:pPr>
            <a:r>
              <a:t>TRY THIS: Modify to create multiple log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#6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seek $fp 0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Moves file pointer to beginning of the 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Pointer reset to 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‘seek’ allows repositioning for partial reads/writes.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#7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line [gets $fp]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Reads one line from file at a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Timing analysis complete.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Useful for line-by-line reading. Returns -1 on EOF.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#8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fp [open report.log 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Opens file in append mode to add content at the 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File pointer ready for appending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'a' = Append mode. Keeps existing content intact.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#9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file exists report.log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Checks whether a file exists in the directory.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1 (true) or 0 (false)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Returns 1 if file is present, else 0. Works for directories too.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EE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DANGEROUS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#10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file delete report.log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Deletes the specified file from the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File removed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Use carefully – this is permanent.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500"/>
                </a:solidFill>
              </a:defRPr>
            </a:pPr>
            <a:r>
              <a:t>TRY THIS: Combine read and write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#11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file rename old.log new.log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Renames or moves a file from one name/location to another.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File renamed successfully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Use absolute paths if files are in different directories.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#12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file copy report.log backup/report_bak.log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Copies a file to another location.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File copied successfully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Creates directories automatically if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#13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set cwd [pwd]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Prints current working directory.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/home/user/project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‘pwd’ returns present directory path. Use ‘cd’ to change.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#14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file mkdir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Creates a new directory named 'logs'.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Directory created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Equivalent to 'mkdir' in shell.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#15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file attributes report.log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Displays attributes like permissions, size, or owner.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size 120 permissions rw-r--r--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You can modify them using 'file attributes filename -permissions 0600'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#16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$ catch {open missing.txt r} errMsg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Handles errors while trying to open a missing 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Error handled safely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‘catch’ prevents script termination by storing error in 'errMsg'.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500"/>
                </a:solidFill>
              </a:defRPr>
            </a:pPr>
            <a:r>
              <a:t>TRY THIS: Create a wrapper function for safe file 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82880"/>
            <a:ext cx="1828800" cy="36576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737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EE0000"/>
                </a:solidFill>
              </a:defRPr>
            </a:pPr>
            <a:r>
              <a:t>Command #17 of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8229600" cy="91440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FF00"/>
                </a:solidFill>
                <a:latin typeface="Courier New"/>
              </a:defRPr>
            </a:pPr>
            <a:r>
              <a:t># Large file handling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EXPLANATION: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For large files, read line-by-line instead of loading entire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8229600" cy="1097280"/>
          </a:xfrm>
          <a:prstGeom prst="roundRect">
            <a:avLst/>
          </a:prstGeom>
          <a:solidFill>
            <a:srgbClr val="282828"/>
          </a:solidFill>
          <a:ln w="254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00"/>
                </a:solidFill>
                <a:latin typeface="Courier New"/>
              </a:defRPr>
            </a:pPr>
            <a:r>
              <a:t>OUTPUT: Memory efficient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00"/>
                </a:solidFill>
              </a:defRPr>
            </a:pPr>
            <a:r>
              <a:t>KEY CONCEPT: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Use 'gets' in a loop for large files; avoid 'read' which loads entire file into memory.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E0000"/>
                </a:solidFill>
              </a:defRPr>
            </a:pPr>
            <a:r>
              <a:t>BEST PRACTICES &amp; SAFETY TIPS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5473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00"/>
                </a:solidFill>
              </a:defRPr>
            </a:pPr>
            <a:r>
              <a:rPr dirty="0" smtClean="0"/>
              <a:t>Always </a:t>
            </a:r>
            <a:r>
              <a:rPr dirty="0"/>
              <a:t>close file handles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Prevent resource leaks and ensure data is flushed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295151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00"/>
                </a:solidFill>
              </a:defRPr>
            </a:pPr>
            <a:r>
              <a:rPr dirty="0" smtClean="0"/>
              <a:t>Use </a:t>
            </a:r>
            <a:r>
              <a:rPr dirty="0"/>
              <a:t>'catch' for error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7830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Avoid script termination on file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35012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00"/>
                </a:solidFill>
              </a:defRPr>
            </a:pPr>
            <a:r>
              <a:rPr dirty="0" smtClean="0"/>
              <a:t>Check </a:t>
            </a:r>
            <a:r>
              <a:rPr dirty="0"/>
              <a:t>file existence before reading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Use 'file exists' before open operations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19456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2194560"/>
            <a:ext cx="234314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00"/>
                </a:solidFill>
              </a:defRPr>
            </a:pPr>
            <a:r>
              <a:rPr dirty="0" smtClean="0"/>
              <a:t>Backup </a:t>
            </a:r>
            <a:r>
              <a:rPr dirty="0"/>
              <a:t>important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6060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Copy files before modification or deletion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1752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200118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00"/>
                </a:solidFill>
              </a:defRPr>
            </a:pPr>
            <a:r>
              <a:rPr dirty="0" smtClean="0"/>
              <a:t>Use </a:t>
            </a:r>
            <a:r>
              <a:rPr dirty="0"/>
              <a:t>absolute paths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Avoid relative path issues in production scripts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01752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3017520"/>
            <a:ext cx="251055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00"/>
                </a:solidFill>
              </a:defRPr>
            </a:pPr>
            <a:r>
              <a:rPr dirty="0" smtClean="0"/>
              <a:t>Validate </a:t>
            </a:r>
            <a:r>
              <a:rPr dirty="0"/>
              <a:t>file permissions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4290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Check if script has required read/write 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270503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00"/>
                </a:solidFill>
              </a:defRPr>
            </a:pPr>
            <a:r>
              <a:rPr dirty="0" smtClean="0"/>
              <a:t>Handle </a:t>
            </a:r>
            <a:r>
              <a:rPr dirty="0"/>
              <a:t>large files carefully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2519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Use line-by-line reading for memory efficiency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84048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3840480"/>
            <a:ext cx="25229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FF00"/>
                </a:solidFill>
              </a:defRPr>
            </a:pPr>
            <a:r>
              <a:rPr dirty="0" smtClean="0"/>
              <a:t>Clean </a:t>
            </a:r>
            <a:r>
              <a:rPr dirty="0"/>
              <a:t>up temporary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2519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Delete temporary files after 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E0000"/>
                </a:solidFill>
              </a:defRPr>
            </a:pPr>
            <a:r>
              <a:t>PERFORMANCE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665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00"/>
                </a:solidFill>
              </a:defRPr>
            </a:pPr>
            <a:r>
              <a:rPr dirty="0" smtClean="0"/>
              <a:t>Large </a:t>
            </a:r>
            <a:r>
              <a:rPr dirty="0"/>
              <a:t>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2348"/>
            <a:ext cx="396615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rPr sz="1000" dirty="0"/>
              <a:t>Use 'gets' for line-by-line reading instead of loading entire file with 'read'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9729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00"/>
                </a:solidFill>
              </a:defRPr>
            </a:pPr>
            <a:r>
              <a:rPr dirty="0" smtClean="0"/>
              <a:t>Buffering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2495193"/>
            <a:ext cx="391164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rPr sz="1000" dirty="0"/>
              <a:t>TCL automatically buffers I/O. Use 'flush $</a:t>
            </a:r>
            <a:r>
              <a:rPr sz="1000" dirty="0" err="1"/>
              <a:t>fp</a:t>
            </a:r>
            <a:r>
              <a:rPr sz="1000" dirty="0"/>
              <a:t>' to force write immediately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14786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00"/>
                </a:solidFill>
              </a:defRPr>
            </a:pPr>
            <a:r>
              <a:rPr dirty="0" smtClean="0"/>
              <a:t>Memory </a:t>
            </a:r>
            <a:r>
              <a:rPr dirty="0"/>
              <a:t>Usage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Monitor memory when processing many files simultaneously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11585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00"/>
                </a:solidFill>
              </a:defRPr>
            </a:pPr>
            <a:r>
              <a:rPr dirty="0" smtClean="0"/>
              <a:t>Binary </a:t>
            </a:r>
            <a:r>
              <a:rPr dirty="0"/>
              <a:t>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Add 'b' flag (e.g., 'rb', 'wb') for faster binary file operations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37160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1371600"/>
            <a:ext cx="11673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00"/>
                </a:solidFill>
              </a:defRPr>
            </a:pPr>
            <a:r>
              <a:rPr dirty="0" smtClean="0"/>
              <a:t>File </a:t>
            </a:r>
            <a:r>
              <a:rPr dirty="0"/>
              <a:t>Locking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642349"/>
            <a:ext cx="398698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rPr sz="1000" dirty="0"/>
              <a:t>Consider file locking for concurrent access in multi-process environments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19456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2194560"/>
            <a:ext cx="14077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00"/>
                </a:solidFill>
              </a:defRPr>
            </a:pPr>
            <a:r>
              <a:rPr dirty="0" smtClean="0"/>
              <a:t>Benchmarking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4846320" y="256032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Use 'time' command to measure file operation performance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01752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3017520"/>
            <a:ext cx="161223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00"/>
                </a:solidFill>
              </a:defRPr>
            </a:pPr>
            <a:r>
              <a:rPr dirty="0" smtClean="0"/>
              <a:t>Batch </a:t>
            </a:r>
            <a:r>
              <a:rPr dirty="0"/>
              <a:t>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38328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Process files in batches for better memory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840480"/>
            <a:ext cx="3840480" cy="731520"/>
          </a:xfrm>
          <a:prstGeom prst="roundRect">
            <a:avLst/>
          </a:prstGeom>
          <a:solidFill>
            <a:srgbClr val="2828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3840480"/>
            <a:ext cx="87876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00"/>
                </a:solidFill>
              </a:defRPr>
            </a:pPr>
            <a:r>
              <a:rPr dirty="0" smtClean="0"/>
              <a:t>Cleanup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4846320" y="42062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Close file handles immediately after use to free resources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E0000"/>
                </a:solidFill>
              </a:defRPr>
            </a:pPr>
            <a:r>
              <a:t>REFERENCES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283891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00"/>
                </a:solidFill>
              </a:defRPr>
            </a:pPr>
            <a:r>
              <a:rPr dirty="0" smtClean="0"/>
              <a:t> </a:t>
            </a:r>
            <a:r>
              <a:rPr dirty="0"/>
              <a:t>Official TCL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00"/>
                </a:solidFill>
              </a:defRPr>
            </a:pPr>
            <a:r>
              <a:t>https://www.tcl.tk/man/tcl8.6/TclCmd/contents.htm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88679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00"/>
                </a:solidFill>
              </a:defRPr>
            </a:pPr>
            <a:r>
              <a:rPr dirty="0" smtClean="0"/>
              <a:t>TCL </a:t>
            </a:r>
            <a:r>
              <a:rPr dirty="0"/>
              <a:t>File I/O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00"/>
                </a:solidFill>
              </a:defRPr>
            </a:pPr>
            <a:r>
              <a:t>https://wiki.tcl-lang.org/page/File+System+Interaction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6636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00"/>
                </a:solidFill>
              </a:defRPr>
            </a:pPr>
            <a:r>
              <a:rPr dirty="0" smtClean="0"/>
              <a:t>Red </a:t>
            </a:r>
            <a:r>
              <a:rPr dirty="0"/>
              <a:t>Hat TCL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00"/>
                </a:solidFill>
              </a:defRPr>
            </a:pPr>
            <a:r>
              <a:t>Red Hat System Administration scripting guides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295132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00"/>
                </a:solidFill>
              </a:defRPr>
            </a:pPr>
            <a:r>
              <a:rPr dirty="0" smtClean="0"/>
              <a:t>Practical </a:t>
            </a:r>
            <a:r>
              <a:rPr dirty="0"/>
              <a:t>Programming in TCL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00"/>
                </a:solidFill>
              </a:defRPr>
            </a:pPr>
            <a:r>
              <a:t>Brent Welch's definitive guide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225613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00"/>
                </a:solidFill>
              </a:defRPr>
            </a:pPr>
            <a:r>
              <a:rPr dirty="0" smtClean="0"/>
              <a:t>File </a:t>
            </a:r>
            <a:r>
              <a:rPr dirty="0"/>
              <a:t>I/O Best Practices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7548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00"/>
                </a:solidFill>
              </a:defRPr>
            </a:pPr>
            <a:r>
              <a:t>Industry standards for robust file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26216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00"/>
                </a:solidFill>
              </a:defRPr>
            </a:pPr>
            <a:r>
              <a:rPr dirty="0" smtClean="0"/>
              <a:t>Advanced </a:t>
            </a:r>
            <a:r>
              <a:rPr dirty="0"/>
              <a:t>TCL Techniques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5778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FF00"/>
                </a:solidFill>
              </a:defRPr>
            </a:pPr>
            <a:r>
              <a:t>TCL conference papers and presentations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Slide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1254</Words>
  <Application>Microsoft Office PowerPoint</Application>
  <PresentationFormat>On-screen Show (4:3)</PresentationFormat>
  <Paragraphs>228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Shalini Sharma</cp:lastModifiedBy>
  <cp:revision>5</cp:revision>
  <dcterms:created xsi:type="dcterms:W3CDTF">2013-01-27T09:14:16Z</dcterms:created>
  <dcterms:modified xsi:type="dcterms:W3CDTF">2025-12-01T09:29:44Z</dcterms:modified>
  <cp:category/>
</cp:coreProperties>
</file>