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581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EE0000"/>
                </a:solidFill>
              </a:defRPr>
            </a:pPr>
            <a:r>
              <a:rPr dirty="0"/>
              <a:t>TCL VARIABLES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7117" y="3657600"/>
            <a:ext cx="756976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rPr dirty="0"/>
              <a:t>Understanding Substitution, Literals &amp; Command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06236" y="4314736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Prepared By – Kunal Saraswat</a:t>
            </a:r>
          </a:p>
          <a:p>
            <a:endParaRPr lang="en-US" dirty="0"/>
          </a:p>
          <a:p>
            <a:r>
              <a:rPr lang="en-US" dirty="0">
                <a:solidFill>
                  <a:srgbClr val="92D050"/>
                </a:solidFill>
              </a:rPr>
              <a:t>Follow Me on LinkedIn : https://www.linkedin.com/in/kunalsaraswat/ </a:t>
            </a:r>
            <a:endParaRPr lang="en-US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822960" y="4114800"/>
            <a:ext cx="1554480" cy="73152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1554480" cy="73152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554480" cy="73152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E0000"/>
                </a:solidFill>
              </a:defRPr>
            </a:pPr>
            <a:r>
              <a:t>TCL SYNTAX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371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00FF00"/>
                </a:solidFill>
              </a:defRPr>
            </a:pPr>
            <a:r>
              <a:t>" 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3716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E0000"/>
                </a:solidFill>
              </a:defRPr>
            </a:pPr>
            <a:r>
              <a:t>Double Quotes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Enables substitution of variables ($var) and command execution ([cmd])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371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00FF00"/>
                </a:solidFill>
              </a:defRPr>
            </a:pPr>
            <a:r>
              <a:t>{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743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E0000"/>
                </a:solidFill>
              </a:defRPr>
            </a:pPr>
            <a:r>
              <a:t>Curly Braces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Pass content as-is (literal) - NO substitution or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1371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00FF00"/>
                </a:solidFill>
              </a:defRPr>
            </a:pPr>
            <a:r>
              <a:t>[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1148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E0000"/>
                </a:solidFill>
              </a:defRPr>
            </a:pPr>
            <a:r>
              <a:rPr dirty="0"/>
              <a:t>Square Brackets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rPr dirty="0"/>
              <a:t>Execute content as a command and return the result</a:t>
            </a: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09000" y="6309014"/>
            <a:ext cx="6326000" cy="36512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92D050"/>
                </a:solidFill>
              </a:rPr>
              <a:t>Follow Me on LinkedIn : https://www.linkedin.com/in/kunalsaraswat/ </a:t>
            </a:r>
            <a:endParaRPr lang="en-US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EE0000"/>
                </a:solidFill>
              </a:defRPr>
            </a:pPr>
            <a:r>
              <a:t>Command #1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 w="381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TCL Terminal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set clock_signals "clk_core clk_io"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E0000"/>
                </a:solidFill>
              </a:defRPr>
            </a:pPr>
            <a:r>
              <a:t>EXPLANATION: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Creates a variable 'clock_signals' with value 'clk_core clk_io'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8229600" cy="109728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E0000"/>
                </a:solidFill>
              </a:defRPr>
            </a:pPr>
            <a:r>
              <a:t>OUTPUT: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clk_core clk_io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E0000"/>
                </a:solidFill>
              </a:defRPr>
            </a:pPr>
            <a:r>
              <a:t>KEY CONCEPT: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Double quotes allow variable substitution and command execution within the string</a:t>
            </a: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09000" y="6309014"/>
            <a:ext cx="6326000" cy="36512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92D050"/>
                </a:solidFill>
              </a:rPr>
              <a:t>Follow Me on LinkedIn : https://www.linkedin.com/in/kunalsaraswat/ </a:t>
            </a:r>
            <a:endParaRPr lang="en-US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EE0000"/>
                </a:solidFill>
              </a:defRPr>
            </a:pPr>
            <a:r>
              <a:t>Command #2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 w="381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TCL Terminal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set main_clocks $clock_signals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E0000"/>
                </a:solidFill>
              </a:defRPr>
            </a:pPr>
            <a:r>
              <a:t>EXPLANATION: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Assigns the VALUE of clock_signals to main_clocks using $ substitution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8229600" cy="109728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E0000"/>
                </a:solidFill>
              </a:defRPr>
            </a:pPr>
            <a:r>
              <a:t>OUTPUT: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clk_core clk_io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E0000"/>
                </a:solidFill>
              </a:defRPr>
            </a:pPr>
            <a:r>
              <a:t>KEY CONCEPT: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The $ symbol substitutes the variable with its actual value</a:t>
            </a: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09000" y="6309014"/>
            <a:ext cx="6326000" cy="36512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92D050"/>
                </a:solidFill>
              </a:rPr>
              <a:t>Follow Me on LinkedIn : https://www.linkedin.com/in/kunalsaraswat/ </a:t>
            </a:r>
            <a:endParaRPr lang="en-US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EE0000"/>
                </a:solidFill>
              </a:defRPr>
            </a:pPr>
            <a:r>
              <a:t>Command #3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 w="381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TCL Terminal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set literal_clocks {$clock_signals}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E0000"/>
                </a:solidFill>
              </a:defRPr>
            </a:pPr>
            <a:r>
              <a:t>EXPLANATION: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Assigns the LITERAL string '$clock_signals' to literal_clocks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8229600" cy="109728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E0000"/>
                </a:solidFill>
              </a:defRPr>
            </a:pPr>
            <a:r>
              <a:t>OUTPUT: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$clock_signals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E0000"/>
                </a:solidFill>
              </a:defRPr>
            </a:pPr>
            <a:r>
              <a:t>KEY CONCEPT: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Curly braces prevent substitution - passes everything as-is (literal)</a:t>
            </a: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09000" y="6309014"/>
            <a:ext cx="6326000" cy="36512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92D050"/>
                </a:solidFill>
              </a:rPr>
              <a:t>Follow Me on LinkedIn : https://www.linkedin.com/in/kunalsaraswat/ </a:t>
            </a:r>
            <a:endParaRPr lang="en-US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EE0000"/>
                </a:solidFill>
              </a:defRPr>
            </a:pPr>
            <a:r>
              <a:t>Command #4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 w="381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TCL Terminal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#set exec_clocks [$clock_signals]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E0000"/>
                </a:solidFill>
              </a:defRPr>
            </a:pPr>
            <a:r>
              <a:t>EXPLANATION: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COMMENTED OUT - Would try to execute 'clk_core clk_io' as a command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8229600" cy="109728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E0000"/>
                </a:solidFill>
              </a:defRPr>
            </a:pPr>
            <a:r>
              <a:t>OUTPUT: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ERROR (if uncommented)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E0000"/>
                </a:solidFill>
              </a:defRPr>
            </a:pPr>
            <a:r>
              <a:t>KEY CONCEPT: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Square brackets execute content as a command. This would fail because 'clk_core clk_io' is not a valid command</a:t>
            </a: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09000" y="6309014"/>
            <a:ext cx="6326000" cy="36512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92D050"/>
                </a:solidFill>
              </a:rPr>
              <a:t>Follow Me on LinkedIn : https://www.linkedin.com/in/kunalsaraswat/ </a:t>
            </a:r>
            <a:endParaRPr lang="en-US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EE0000"/>
                </a:solidFill>
              </a:defRPr>
            </a:pPr>
            <a:r>
              <a:t>Command #5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 w="381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TCL Terminal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set exec_clocks [list $clock_signals]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E0000"/>
                </a:solidFill>
              </a:defRPr>
            </a:pPr>
            <a:r>
              <a:t>EXPLANATION: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Creates a proper TCL list with the value of clock_signals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8229600" cy="109728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E0000"/>
                </a:solidFill>
              </a:defRPr>
            </a:pPr>
            <a:r>
              <a:t>OUTPUT: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clk_core clk_io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E0000"/>
                </a:solidFill>
              </a:defRPr>
            </a:pPr>
            <a:r>
              <a:t>KEY CONCEPT: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[list ...] command creates a properly formatted list. Here it returns the substituted value</a:t>
            </a: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09000" y="6309014"/>
            <a:ext cx="6326000" cy="36512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92D050"/>
                </a:solidFill>
              </a:rPr>
              <a:t>Follow Me on LinkedIn : https://www.linkedin.com/in/kunalsaraswat/ </a:t>
            </a:r>
            <a:endParaRPr lang="en-US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EE0000"/>
                </a:solidFill>
              </a:defRPr>
            </a:pPr>
            <a:r>
              <a:t>Command #6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 w="381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TCL Terminal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set main_clocks "$clock_signals"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E0000"/>
                </a:solidFill>
              </a:defRPr>
            </a:pPr>
            <a:r>
              <a:t>EXPLANATION: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Re-assigns main_clocks with clock_signals value (with quotes)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8229600" cy="109728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E0000"/>
                </a:solidFill>
              </a:defRPr>
            </a:pPr>
            <a:r>
              <a:t>OUTPUT: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clk_core clk_io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E0000"/>
                </a:solidFill>
              </a:defRPr>
            </a:pPr>
            <a:r>
              <a:t>KEY CONCEPT: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Similar to earlier - double quotes allow substitution, result is the same</a:t>
            </a: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09000" y="6309014"/>
            <a:ext cx="6326000" cy="36512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92D050"/>
                </a:solidFill>
              </a:rPr>
              <a:t>Follow Me on LinkedIn : https://www.linkedin.com/in/kunalsaraswat/ </a:t>
            </a:r>
            <a:endParaRPr lang="en-US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EE0000"/>
                </a:solidFill>
              </a:defRPr>
            </a:pPr>
            <a:r>
              <a:t>Command #7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 w="381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TCL Terminal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set report_cmd "report_timing $clock_signals"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E0000"/>
                </a:solidFill>
              </a:defRPr>
            </a:pPr>
            <a:r>
              <a:t>EXPLANATION: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Assigns the LITERAL STRING 'report_timing clk_core clk_io' to report_cmd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8229600" cy="109728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E0000"/>
                </a:solidFill>
              </a:defRPr>
            </a:pPr>
            <a:r>
              <a:t>OUTPUT: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report_timing clk_core clk_io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E0000"/>
                </a:solidFill>
              </a:defRPr>
            </a:pPr>
            <a:r>
              <a:t>KEY CONCEPT: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Double quotes substitute $clock_signals but don't execute the command, creating a string</a:t>
            </a: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09000" y="6309014"/>
            <a:ext cx="6326000" cy="36512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92D050"/>
                </a:solidFill>
              </a:rPr>
              <a:t>Follow Me on LinkedIn : https://www.linkedin.com/in/kunalsaraswat/ </a:t>
            </a:r>
            <a:endParaRPr lang="en-US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EE0000"/>
                </a:solidFill>
              </a:defRPr>
            </a:pPr>
            <a:r>
              <a:t>Command #8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 w="381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TCL Terminal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set report_cmd [list {$clock_signals}]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E0000"/>
                </a:solidFill>
              </a:defRPr>
            </a:pPr>
            <a:r>
              <a:t>EXPLANATION: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Creates a list containing the LITERAL string '$clock_signals'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8229600" cy="109728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E0000"/>
                </a:solidFill>
              </a:defRPr>
            </a:pPr>
            <a:r>
              <a:t>OUTPUT: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$clock_signals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E0000"/>
                </a:solidFill>
              </a:defRPr>
            </a:pPr>
            <a:r>
              <a:t>KEY CONCEPT: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The [list] command with curly braces inside preserves the literal text without substitution</a:t>
            </a: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09000" y="6309014"/>
            <a:ext cx="6326000" cy="36512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92D050"/>
                </a:solidFill>
              </a:rPr>
              <a:t>Follow Me on LinkedIn : https://www.linkedin.com/in/kunalsaraswat/ </a:t>
            </a:r>
            <a:endParaRPr lang="en-US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EE0000"/>
                </a:solidFill>
              </a:defRPr>
            </a:pPr>
            <a:r>
              <a:t>Command #9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 w="381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TCL Terminal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set report_cmd {report_timing $clock_signals}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E0000"/>
                </a:solidFill>
              </a:defRPr>
            </a:pPr>
            <a:r>
              <a:t>EXPLANATION: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Assigns the LITERAL string 'report_timing $clock_signals' to report_cmd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8229600" cy="109728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E0000"/>
                </a:solidFill>
              </a:defRPr>
            </a:pPr>
            <a:r>
              <a:t>OUTPUT: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report_timing $clock_signals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E0000"/>
                </a:solidFill>
              </a:defRPr>
            </a:pPr>
            <a:r>
              <a:t>KEY CONCEPT: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Curly braces prevent any substitution - everything is literal</a:t>
            </a: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09000" y="6309014"/>
            <a:ext cx="6326000" cy="36512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92D050"/>
                </a:solidFill>
              </a:rPr>
              <a:t>Follow Me on LinkedIn : https://www.linkedin.com/in/kunalsaraswat/ </a:t>
            </a:r>
            <a:endParaRPr lang="en-US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EE0000"/>
                </a:solidFill>
              </a:defRPr>
            </a:pPr>
            <a:r>
              <a:t>Command #10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 w="381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TCL Terminal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set report_cmd [puts $clock_signals]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E0000"/>
                </a:solidFill>
              </a:defRPr>
            </a:pPr>
            <a:r>
              <a:t>EXPLANATION: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EXECUTES 'puts clk_core clk_io' and assigns its return value to report_cmd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8229600" cy="109728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E0000"/>
                </a:solidFill>
              </a:defRPr>
            </a:pPr>
            <a:r>
              <a:t>OUTPUT: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Prints: clk_core clk_io</a:t>
            </a:r>
          </a:p>
          <a:p>
            <a:r>
              <a:t>Variable report_cmd = (empty string)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E0000"/>
                </a:solidFill>
              </a:defRPr>
            </a:pPr>
            <a:r>
              <a:t>KEY CONCEPT: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Square brackets execute the command. 'puts' prints to console but returns empty string</a:t>
            </a: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09000" y="6309014"/>
            <a:ext cx="6326000" cy="36512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92D050"/>
                </a:solidFill>
              </a:rPr>
              <a:t>Follow Me on LinkedIn : https://www.linkedin.com/in/kunalsaraswat/ </a:t>
            </a:r>
            <a:endParaRPr lang="en-US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E0000"/>
                </a:solidFill>
              </a:defRPr>
            </a:pPr>
            <a:r>
              <a:t>QUICK REFERENCE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684701"/>
              </p:ext>
            </p:extLst>
          </p:nvPr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Command</a:t>
                      </a: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Key Point</a:t>
                      </a:r>
                    </a:p>
                  </a:txBody>
                  <a:tcPr>
                    <a:solidFill>
                      <a:srgbClr val="EE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FF00"/>
                          </a:solidFill>
                          <a:latin typeface="Courier New"/>
                        </a:defRPr>
                      </a:pPr>
                      <a:r>
                        <a:rPr dirty="0"/>
                        <a:t>set </a:t>
                      </a:r>
                      <a:r>
                        <a:rPr dirty="0" err="1"/>
                        <a:t>clock_signals</a:t>
                      </a:r>
                      <a:r>
                        <a:rPr dirty="0"/>
                        <a:t> "</a:t>
                      </a:r>
                      <a:r>
                        <a:rPr dirty="0" err="1"/>
                        <a:t>clk_core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clk_io</a:t>
                      </a:r>
                      <a:r>
                        <a:rPr dirty="0"/>
                        <a:t>"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ourier New"/>
                        </a:defRPr>
                      </a:pPr>
                      <a:r>
                        <a:t>clk_core clk_io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E0000"/>
                          </a:solidFill>
                        </a:defRPr>
                      </a:pPr>
                      <a:r>
                        <a:rPr dirty="0">
                          <a:solidFill>
                            <a:srgbClr val="FFFF00"/>
                          </a:solidFill>
                        </a:rPr>
                        <a:t>" " = Substitution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FF00"/>
                          </a:solidFill>
                          <a:latin typeface="Courier New"/>
                        </a:defRPr>
                      </a:pPr>
                      <a:r>
                        <a:t>set main_clocks $clock_signals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ourier New"/>
                        </a:defRPr>
                      </a:pPr>
                      <a:r>
                        <a:t>clk_core clk_io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E0000"/>
                          </a:solidFill>
                        </a:defRPr>
                      </a:pPr>
                      <a:r>
                        <a:rPr dirty="0">
                          <a:solidFill>
                            <a:srgbClr val="FFFF00"/>
                          </a:solidFill>
                        </a:rPr>
                        <a:t>$ = Variable value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FF00"/>
                          </a:solidFill>
                          <a:latin typeface="Courier New"/>
                        </a:defRPr>
                      </a:pPr>
                      <a:r>
                        <a:t>set literal_clocks {$clock_signals}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ourier New"/>
                        </a:defRPr>
                      </a:pPr>
                      <a:r>
                        <a:t>$clock_signals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E0000"/>
                          </a:solidFill>
                        </a:defRPr>
                      </a:pPr>
                      <a:r>
                        <a:rPr dirty="0">
                          <a:solidFill>
                            <a:srgbClr val="FFFF00"/>
                          </a:solidFill>
                        </a:rPr>
                        <a:t>{ } = Literal (no sub)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FF00"/>
                          </a:solidFill>
                          <a:latin typeface="Courier New"/>
                        </a:defRPr>
                      </a:pPr>
                      <a:r>
                        <a:t>#set exec_clocks [$clock_signals]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ourier New"/>
                        </a:defRPr>
                      </a:pPr>
                      <a:r>
                        <a:t>ERROR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E0000"/>
                          </a:solidFill>
                        </a:defRPr>
                      </a:pPr>
                      <a:r>
                        <a:rPr dirty="0">
                          <a:solidFill>
                            <a:srgbClr val="FFFF00"/>
                          </a:solidFill>
                        </a:rPr>
                        <a:t>[ ] = Execute </a:t>
                      </a:r>
                      <a:r>
                        <a:rPr dirty="0" err="1">
                          <a:solidFill>
                            <a:srgbClr val="FFFF00"/>
                          </a:solidFill>
                        </a:rPr>
                        <a:t>cmd</a:t>
                      </a:r>
                      <a:endParaRPr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3C3C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FF00"/>
                          </a:solidFill>
                          <a:latin typeface="Courier New"/>
                        </a:defRPr>
                      </a:pPr>
                      <a:r>
                        <a:t>set exec_clocks [list $clock_signals]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ourier New"/>
                        </a:defRPr>
                      </a:pPr>
                      <a:r>
                        <a:t>clk_core clk_io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E0000"/>
                          </a:solidFill>
                        </a:defRPr>
                      </a:pPr>
                      <a:r>
                        <a:rPr dirty="0">
                          <a:solidFill>
                            <a:srgbClr val="FFFF00"/>
                          </a:solidFill>
                        </a:rPr>
                        <a:t>[list] = Make list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FF00"/>
                          </a:solidFill>
                          <a:latin typeface="Courier New"/>
                        </a:defRPr>
                      </a:pPr>
                      <a:r>
                        <a:t>set main_clocks "$clock_signals"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ourier New"/>
                        </a:defRPr>
                      </a:pPr>
                      <a:r>
                        <a:t>clk_core clk_io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E0000"/>
                          </a:solidFill>
                        </a:defRPr>
                      </a:pPr>
                      <a:r>
                        <a:rPr dirty="0">
                          <a:solidFill>
                            <a:srgbClr val="FFFF00"/>
                          </a:solidFill>
                        </a:rPr>
                        <a:t>" " = Substitution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FF00"/>
                          </a:solidFill>
                          <a:latin typeface="Courier New"/>
                        </a:defRPr>
                      </a:pPr>
                      <a:r>
                        <a:t>set report_cmd "report_timing $clock_signals"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ourier New"/>
                        </a:defRPr>
                      </a:pPr>
                      <a:r>
                        <a:t>report_timing clk_core clk_io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E0000"/>
                          </a:solidFill>
                        </a:defRPr>
                      </a:pPr>
                      <a:r>
                        <a:rPr dirty="0">
                          <a:solidFill>
                            <a:srgbClr val="FFFF00"/>
                          </a:solidFill>
                        </a:rPr>
                        <a:t>String (not exec)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FF00"/>
                          </a:solidFill>
                          <a:latin typeface="Courier New"/>
                        </a:defRPr>
                      </a:pPr>
                      <a:r>
                        <a:t>set report_cmd [list {$clock_signals}]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ourier New"/>
                        </a:defRPr>
                      </a:pPr>
                      <a:r>
                        <a:t>$clock_signals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E0000"/>
                          </a:solidFill>
                        </a:defRPr>
                      </a:pPr>
                      <a:r>
                        <a:rPr dirty="0">
                          <a:solidFill>
                            <a:srgbClr val="FFFF00"/>
                          </a:solidFill>
                        </a:rPr>
                        <a:t>List with literal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FF00"/>
                          </a:solidFill>
                          <a:latin typeface="Courier New"/>
                        </a:defRPr>
                      </a:pPr>
                      <a:r>
                        <a:t>set report_cmd {report_timing $clock_signals}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ourier New"/>
                        </a:defRPr>
                      </a:pPr>
                      <a:r>
                        <a:t>report_timing $clock_signals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E0000"/>
                          </a:solidFill>
                        </a:defRPr>
                      </a:pPr>
                      <a:r>
                        <a:rPr dirty="0">
                          <a:solidFill>
                            <a:srgbClr val="FFFF00"/>
                          </a:solidFill>
                        </a:rPr>
                        <a:t>{ } = No parsing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FF00"/>
                          </a:solidFill>
                          <a:latin typeface="Courier New"/>
                        </a:defRPr>
                      </a:pPr>
                      <a:r>
                        <a:t>set report_cmd [puts $clock_signals]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ourier New"/>
                        </a:defRPr>
                      </a:pPr>
                      <a:r>
                        <a:t>clk_core clk_io (printed)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E0000"/>
                          </a:solidFill>
                        </a:defRPr>
                      </a:pPr>
                      <a:r>
                        <a:rPr dirty="0">
                          <a:solidFill>
                            <a:srgbClr val="FFFF00"/>
                          </a:solidFill>
                        </a:rPr>
                        <a:t>[ ] = Execute now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</a:tr>
            </a:tbl>
          </a:graphicData>
        </a:graphic>
      </p:graphicFrame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09000" y="6309014"/>
            <a:ext cx="6326000" cy="36512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92D050"/>
                </a:solidFill>
              </a:rPr>
              <a:t>Follow Me on LinkedIn : https://www.linkedin.com/in/kunalsaraswat/ </a:t>
            </a:r>
            <a:endParaRPr lang="en-US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803</Words>
  <Application>Microsoft Office PowerPoint</Application>
  <PresentationFormat>On-screen Show (4:3)</PresentationFormat>
  <Paragraphs>152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Shalini Sharma</cp:lastModifiedBy>
  <cp:revision>9</cp:revision>
  <dcterms:created xsi:type="dcterms:W3CDTF">2013-01-27T09:14:16Z</dcterms:created>
  <dcterms:modified xsi:type="dcterms:W3CDTF">2025-12-01T09:48:52Z</dcterms:modified>
  <cp:category/>
</cp:coreProperties>
</file>